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F5F3C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224E3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685800"/>
            <a:ext cx="1051560" cy="1051560"/>
          </a:xfrm>
          <a:prstGeom prst="roundRect">
            <a:avLst>
              <a:gd name="adj" fmla="val 19130"/>
            </a:avLst>
          </a:prstGeom>
          <a:solidFill>
            <a:srgbClr val="FFFFFF"/>
          </a:solidFill>
          <a:ln/>
        </p:spPr>
      </p:sp>
      <p:pic>
        <p:nvPicPr>
          <p:cNvPr id="5" name="Image 0" descr="/tmp/claude-0/scratchpad/shots/croppe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819570"/>
            <a:ext cx="868680" cy="784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OKURMEN KIDS · LMS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3317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Инструкция для тренеров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36118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9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пользоваться личным кабинетом: группы, расписание, посещаемость,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9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домашние задания и аналитика.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4343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Тренерлер үчүн кыскача көрсөтмө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5623560"/>
            <a:ext cx="7863840" cy="566928"/>
          </a:xfrm>
          <a:prstGeom prst="roundRect">
            <a:avLst>
              <a:gd name="adj" fmla="val 50000"/>
            </a:avLst>
          </a:prstGeom>
          <a:solidFill>
            <a:srgbClr val="1B4F32"/>
          </a:solidFill>
          <a:ln w="12700">
            <a:solidFill>
              <a:srgbClr val="2E7A5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562356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okurmen-kids-drab.vercel.app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ВВЕДЕНИЕ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Что такое Okurmen KIDS LMS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2529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веб-кабинет тренера академии Okurmen KIDS — единое место для группы, расписания и отчётности.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E7F3E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Расписание и занятия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644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занятия по группам, статусы «Запланировано / Идёт занятие / Проведено».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9659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E7F3E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2240280"/>
            <a:ext cx="548640" cy="548640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926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Посещаемость и ДЗ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2644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Отмечайте присутствие и проверяйте домашние задания студентов.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92440" y="19659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E7F3EC"/>
          </a:solidFill>
          <a:ln/>
        </p:spPr>
      </p:sp>
      <p:sp>
        <p:nvSpPr>
          <p:cNvPr id="16" name="Shape 14"/>
          <p:cNvSpPr/>
          <p:nvPr/>
        </p:nvSpPr>
        <p:spPr>
          <a:xfrm>
            <a:off x="8366760" y="2240280"/>
            <a:ext cx="548640" cy="548640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926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и отчёты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2644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по группам и ежемесячные отчёты о вашей работе.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11183112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3708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предназначена презентация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736592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Инструкция составлена для тренеров и преподавателей академии на основе реального интерфейса системы — все шаги и скриншоты сняты в личном кабинете тренера. Раздел «Что нужно уточнить» в конце презентации перечисляет функции, которые пока нельзя подтвердить по интерфейсу.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Okurmen KIDS LMS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ВХОД В СИСТЕМУ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Как войти в личный кабинет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2529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по логину и паролю, которые выдаёт администратор академии.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4297680" cy="4343400"/>
          </a:xfrm>
          <a:prstGeom prst="roundRect">
            <a:avLst>
              <a:gd name="adj" fmla="val 2553"/>
            </a:avLst>
          </a:prstGeom>
          <a:solidFill>
            <a:srgbClr val="E7F3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2084832"/>
            <a:ext cx="3712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Пошагово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5528" y="2532888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5528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97864" y="2478024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okurmen-kids-drab.vercel.app в браузере.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" y="3099816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97864" y="3044952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Введите логин в поле «Логин».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" y="3666744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5528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97864" y="3611880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Введите пароль в поле «Пароль».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" y="4233672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97864" y="4178808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 зелёную кнопку «Войти».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5528" y="4800600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5528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97864" y="4745736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ошибке проверьте логин/пароль или обратитесь к администратору.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95528" y="5605272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Логин и пароль тренеру выдаёт администратор академии — самостоятельная регистрация в системе не предусмотрена.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74920" y="1828800"/>
            <a:ext cx="6611112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  <a:effectLst>
            <a:outerShdw sx="100000" sy="100000" kx="0" ky="0" algn="bl" rotWithShape="0" blurRad="127000" dist="38100" dir="5400000">
              <a:srgbClr val="1F5F3C">
                <a:alpha val="18000"/>
              </a:srgbClr>
            </a:outerShdw>
          </a:effectLst>
        </p:spPr>
      </p:sp>
      <p:pic>
        <p:nvPicPr>
          <p:cNvPr id="24" name="Image 0" descr="/tmp/claude-0/scratchpad/shots/cropped/img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1224" y="2438425"/>
            <a:ext cx="6318504" cy="3124149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Okurmen KIDS LMS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ГЛАВНАЯ СТРАНИЦА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Страница «Сегодня» и навигация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2529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входа вы попадаете на дашборд — сводку по текущему дню и меню слева.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4297680" cy="4343400"/>
          </a:xfrm>
          <a:prstGeom prst="roundRect">
            <a:avLst>
              <a:gd name="adj" fmla="val 2553"/>
            </a:avLst>
          </a:prstGeom>
          <a:solidFill>
            <a:srgbClr val="E7F3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2084832"/>
            <a:ext cx="3712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на странице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5528" y="2532888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5528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97864" y="2478024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Карточки: занятия сегодня, число студентов, посещаемость, ДЗ на проверку.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" y="3099816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97864" y="3044952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«Новости» — объявления администрации.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" y="3666744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5528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97864" y="3611880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Списки занятий: сегодня, завтра, ближайшие.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" y="4233672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97864" y="4178808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 — меню разделов, справа сверху — колокольчик новостей и профиль.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74920" y="1828800"/>
            <a:ext cx="6611112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  <a:effectLst>
            <a:outerShdw sx="100000" sy="100000" kx="0" ky="0" algn="bl" rotWithShape="0" blurRad="127000" dist="38100" dir="5400000">
              <a:srgbClr val="1F5F3C">
                <a:alpha val="18000"/>
              </a:srgbClr>
            </a:outerShdw>
          </a:effectLst>
        </p:spPr>
      </p:sp>
      <p:pic>
        <p:nvPicPr>
          <p:cNvPr id="20" name="Image 0" descr="/tmp/claude-0/scratchpad/shots/cropped/img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1224" y="2025968"/>
            <a:ext cx="6318504" cy="394906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Okurmen KIDS LMS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МОИ ГРУППЫ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Как найти свою группу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2529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«Мои группы» показывает только группы, закреплённые за вами.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4297680" cy="4343400"/>
          </a:xfrm>
          <a:prstGeom prst="roundRect">
            <a:avLst>
              <a:gd name="adj" fmla="val 2553"/>
            </a:avLst>
          </a:prstGeom>
          <a:solidFill>
            <a:srgbClr val="E7F3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2084832"/>
            <a:ext cx="3712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Пошагово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5528" y="2532888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5528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97864" y="2478024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меню слева откройте «Мои группы».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" y="3099816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97864" y="3044952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необходимости используйте поиск по названию или фильтр по статусу.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" y="3666744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5528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97864" y="3611880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карточке группы видно число студентов, кол-во программ и дни занятий.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" y="4233672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97864" y="4178808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 на карточку, чтобы открыть группу.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74920" y="1828800"/>
            <a:ext cx="6611112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  <a:effectLst>
            <a:outerShdw sx="100000" sy="100000" kx="0" ky="0" algn="bl" rotWithShape="0" blurRad="127000" dist="38100" dir="5400000">
              <a:srgbClr val="1F5F3C">
                <a:alpha val="18000"/>
              </a:srgbClr>
            </a:outerShdw>
          </a:effectLst>
        </p:spPr>
      </p:sp>
      <p:pic>
        <p:nvPicPr>
          <p:cNvPr id="20" name="Image 0" descr="/tmp/claude-0/scratchpad/shots/cropped/img_grou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1224" y="2025968"/>
            <a:ext cx="6318504" cy="394906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Okurmen KIDS LMS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СТУДЕНТЫ ГРУППЫ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Карточка группы: студенты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2529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группы — вкладки: Обзор, Студенты, Расписание, Посещаемость, Домашние задания, KPI.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  <a:effectLst>
            <a:outerShdw sx="100000" sy="100000" kx="0" ky="0" algn="bl" rotWithShape="0" blurRad="127000" dist="38100" dir="5400000">
              <a:srgbClr val="1F5F3C">
                <a:alpha val="18000"/>
              </a:srgbClr>
            </a:outerShdw>
          </a:effectLst>
        </p:spPr>
      </p:sp>
      <p:pic>
        <p:nvPicPr>
          <p:cNvPr id="6" name="Image 0" descr="/tmp/claude-0/scratchpad/shots/cropped/img_group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391728"/>
            <a:ext cx="5148072" cy="321754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828800"/>
            <a:ext cx="5513832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  <a:effectLst>
            <a:outerShdw sx="100000" sy="100000" kx="0" ky="0" algn="bl" rotWithShape="0" blurRad="127000" dist="38100" dir="5400000">
              <a:srgbClr val="1F5F3C">
                <a:alpha val="18000"/>
              </a:srgbClr>
            </a:outerShdw>
          </a:effectLst>
        </p:spPr>
      </p:sp>
      <p:pic>
        <p:nvPicPr>
          <p:cNvPr id="8" name="Image 1" descr="/tmp/claude-0/scratchpad/shots/cropped/img_group_stud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04" y="2368868"/>
            <a:ext cx="5221224" cy="32632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62636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группы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172200" y="6263640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Вкладка «Студенты» — список группы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Okurmen KIDS LMS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РАСПИСАНИЕ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Расписание и занятия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2529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«Расписание» показывает ваши занятия по неделям или дням.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4297680" cy="4343400"/>
          </a:xfrm>
          <a:prstGeom prst="roundRect">
            <a:avLst>
              <a:gd name="adj" fmla="val 2553"/>
            </a:avLst>
          </a:prstGeom>
          <a:solidFill>
            <a:srgbClr val="E7F3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2084832"/>
            <a:ext cx="3712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5528" y="2532888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5528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97864" y="2478024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Переключение «Неделя / День» и стрелки для смены периода.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" y="3099816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97864" y="3044952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Фильтры: группа, предмет, аудитория, статус занятия.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" y="3666744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5528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97864" y="3611880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«Свободные аудитории» — поиск свободного кабинета.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" y="4233672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97864" y="4178808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Клик по занятию открывает его карточку с деталями.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5605272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 занятия: Запланировано → Идёт занятие → Проведено (или Отменено).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74920" y="1828800"/>
            <a:ext cx="6611112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  <a:effectLst>
            <a:outerShdw sx="100000" sy="100000" kx="0" ky="0" algn="bl" rotWithShape="0" blurRad="127000" dist="38100" dir="5400000">
              <a:srgbClr val="1F5F3C">
                <a:alpha val="18000"/>
              </a:srgbClr>
            </a:outerShdw>
          </a:effectLst>
        </p:spPr>
      </p:sp>
      <p:pic>
        <p:nvPicPr>
          <p:cNvPr id="21" name="Image 0" descr="/tmp/claude-0/scratchpad/shots/cropped/img_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1224" y="2025968"/>
            <a:ext cx="6318504" cy="394906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Okurmen KIDS LMS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ПОСЕЩАЕМОСТЬ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Как работать с посещаемостью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2529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Отметки о присутствии видны на карточке занятия и во вкладке группы «Посещаемость».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4297680" cy="4526280"/>
          </a:xfrm>
          <a:prstGeom prst="roundRect">
            <a:avLst>
              <a:gd name="adj" fmla="val 2553"/>
            </a:avLst>
          </a:prstGeom>
          <a:solidFill>
            <a:srgbClr val="E7F3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2084832"/>
            <a:ext cx="3712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Пошагово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5528" y="2532888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5528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97864" y="2478024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занятие из расписания или дашборда.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" y="3099816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97864" y="3044952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занятие «Идёт» — отметьте статус каждого студента.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" y="3666744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5528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97864" y="3611880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завершения занятия карточка переходит в статус «Проведено» и становится доступна только для просмотра.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" y="4233672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97864" y="4178808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Сводку по группе смотрите во вкладке «Посещаемость» карточки группы.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5788152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Статусы: Присутствовал / Опоздал / Отсутствовал / По уважительной причине.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74920" y="1828800"/>
            <a:ext cx="6611112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  <a:effectLst>
            <a:outerShdw sx="100000" sy="100000" kx="0" ky="0" algn="bl" rotWithShape="0" blurRad="127000" dist="38100" dir="5400000">
              <a:srgbClr val="1F5F3C">
                <a:alpha val="18000"/>
              </a:srgbClr>
            </a:outerShdw>
          </a:effectLst>
        </p:spPr>
      </p:sp>
      <p:pic>
        <p:nvPicPr>
          <p:cNvPr id="21" name="Image 0" descr="/tmp/claude-0/scratchpad/shots/cropped/img_group_atten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1224" y="2117408"/>
            <a:ext cx="6318504" cy="394906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Okurmen KIDS LMS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ДОМАШНИЕ ЗАДАНИЯ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Просмотр и проверка домашних заданий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2529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ДЗ находится во вкладке группы «Домашние задания», проверка — на карточке задания.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4297680" cy="4526280"/>
          </a:xfrm>
          <a:prstGeom prst="roundRect">
            <a:avLst>
              <a:gd name="adj" fmla="val 2553"/>
            </a:avLst>
          </a:prstGeom>
          <a:solidFill>
            <a:srgbClr val="E7F3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2084832"/>
            <a:ext cx="3712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Пошагово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5528" y="2532888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5528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97864" y="2478024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группу → вкладку «Домашние задания».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" y="3099816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97864" y="3044952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Выберите нужное задание из списка.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" y="3666744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5528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97864" y="3611880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карточке студента отметьте статус: Не сдано / Сдано / Сдано с опозданием / Проверено.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" y="4233672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97864" y="4178808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Укажите балл (из 10) и, при необходимости, комментарий.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5788152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завершения занятия результаты ДЗ закрываются для редактирования.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74920" y="1828800"/>
            <a:ext cx="6611112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  <a:effectLst>
            <a:outerShdw sx="100000" sy="100000" kx="0" ky="0" algn="bl" rotWithShape="0" blurRad="127000" dist="38100" dir="5400000">
              <a:srgbClr val="1F5F3C">
                <a:alpha val="18000"/>
              </a:srgbClr>
            </a:outerShdw>
          </a:effectLst>
        </p:spPr>
      </p:sp>
      <p:pic>
        <p:nvPicPr>
          <p:cNvPr id="21" name="Image 0" descr="/tmp/claude-0/scratchpad/shots/cropped/img_homework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0119" y="1975104"/>
            <a:ext cx="4900714" cy="423367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Okurmen KIDS LMS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АНАЛИТИКА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Результаты и аналитика (KPI)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2529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«KPI» считает показатели прямо по реальным данным посещаемости, занятий и ДЗ.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4297680" cy="4343400"/>
          </a:xfrm>
          <a:prstGeom prst="roundRect">
            <a:avLst>
              <a:gd name="adj" fmla="val 2553"/>
            </a:avLst>
          </a:prstGeom>
          <a:solidFill>
            <a:srgbClr val="E7F3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2084832"/>
            <a:ext cx="3712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смотреть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5528" y="2532888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5528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97864" y="2478024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Health — общий индекс качества работы.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" y="3099816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97864" y="3044952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Посещаемость, сдача ДЗ, проведение занятий, удержание студентов.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" y="3666744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5528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97864" y="3611880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 по периоду, группе и предмету.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" y="4233672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97864" y="4178808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Графики трендов по посещаемости и сдаче ДЗ.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74920" y="1828800"/>
            <a:ext cx="6611112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  <a:effectLst>
            <a:outerShdw sx="100000" sy="100000" kx="0" ky="0" algn="bl" rotWithShape="0" blurRad="127000" dist="38100" dir="5400000">
              <a:srgbClr val="1F5F3C">
                <a:alpha val="18000"/>
              </a:srgbClr>
            </a:outerShdw>
          </a:effectLst>
        </p:spPr>
      </p:sp>
      <p:pic>
        <p:nvPicPr>
          <p:cNvPr id="20" name="Image 0" descr="/tmp/claude-0/scratchpad/shots/cropped/img_k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1224" y="2025968"/>
            <a:ext cx="6318504" cy="394906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Okurmen KIDS LMS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ОТЧЁТЫ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Мои отчёты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2529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«Мои отчёты» — ежемесячные отчёты о вашей работе с итоговым KPI.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4297680" cy="4343400"/>
          </a:xfrm>
          <a:prstGeom prst="roundRect">
            <a:avLst>
              <a:gd name="adj" fmla="val 2553"/>
            </a:avLst>
          </a:prstGeom>
          <a:solidFill>
            <a:srgbClr val="E7F3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2084832"/>
            <a:ext cx="3712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Пошагово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5528" y="2532888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5528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97864" y="2478024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«Мои отчёты» в меню слева.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" y="3099816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97864" y="3044952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карточка — месяц: число занятий, студентов, групп и итоговый KPI.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" y="3666744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5528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97864" y="3611880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 «Открыть», чтобы посмотреть отчёт подробно.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" y="4233672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97864" y="4178808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«Создать отчёт» — если отчёт за период ещё не сформирован.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74920" y="1828800"/>
            <a:ext cx="6611112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  <a:effectLst>
            <a:outerShdw sx="100000" sy="100000" kx="0" ky="0" algn="bl" rotWithShape="0" blurRad="127000" dist="38100" dir="5400000">
              <a:srgbClr val="1F5F3C">
                <a:alpha val="18000"/>
              </a:srgbClr>
            </a:outerShdw>
          </a:effectLst>
        </p:spPr>
      </p:sp>
      <p:pic>
        <p:nvPicPr>
          <p:cNvPr id="20" name="Image 0" descr="/tmp/claude-0/scratchpad/shots/cropped/img_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1224" y="2025968"/>
            <a:ext cx="6318504" cy="394906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Okurmen KIDS LMS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УВЕДОМЛЕНИЯ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Новости и важные действия тренера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2529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Объявления администрации приходят в раздел «Новости» с колокольчиком-счётчиком в шапке.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4297680" cy="4343400"/>
          </a:xfrm>
          <a:prstGeom prst="roundRect">
            <a:avLst>
              <a:gd name="adj" fmla="val 2553"/>
            </a:avLst>
          </a:prstGeom>
          <a:solidFill>
            <a:srgbClr val="E7F3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2084832"/>
            <a:ext cx="3712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важно знать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5528" y="2532888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5528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97864" y="2478024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Значок колокольчика в правом верхнем углу показывает число непрочитанных новостей.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" y="3099816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97864" y="3044952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Клик по колокольчику открывает раздел «Новости».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" y="3666744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5528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97864" y="3611880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Регулярно проверяйте новости — там объявления от администрации академии.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" y="4233672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97864" y="4178808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новостей нет, раздел покажет пустое состояние — это нормально.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74920" y="1828800"/>
            <a:ext cx="6611112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  <a:effectLst>
            <a:outerShdw sx="100000" sy="100000" kx="0" ky="0" algn="bl" rotWithShape="0" blurRad="127000" dist="38100" dir="5400000">
              <a:srgbClr val="1F5F3C">
                <a:alpha val="18000"/>
              </a:srgbClr>
            </a:outerShdw>
          </a:effectLst>
        </p:spPr>
      </p:sp>
      <p:pic>
        <p:nvPicPr>
          <p:cNvPr id="20" name="Image 0" descr="/tmp/claude-0/scratchpad/shots/cropped/img_n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1224" y="2025968"/>
            <a:ext cx="6318504" cy="394906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Okurmen KIDS LMS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ПРОФИЛЬ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Профиль тренера и мобильная версия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2529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«Профиль» — ваши данные только для просмотра. LMS доступна и с телефона.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72237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  <a:effectLst>
            <a:outerShdw sx="100000" sy="100000" kx="0" ky="0" algn="bl" rotWithShape="0" blurRad="127000" dist="38100" dir="5400000">
              <a:srgbClr val="1F5F3C">
                <a:alpha val="18000"/>
              </a:srgbClr>
            </a:outerShdw>
          </a:effectLst>
        </p:spPr>
      </p:sp>
      <p:pic>
        <p:nvPicPr>
          <p:cNvPr id="6" name="Image 0" descr="/tmp/claude-0/scratchpad/shots/cropped/img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975104"/>
            <a:ext cx="6481267" cy="4050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1417320"/>
            <a:ext cx="3867912" cy="507492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  <a:effectLst>
            <a:outerShdw sx="100000" sy="100000" kx="0" ky="0" algn="bl" rotWithShape="0" blurRad="127000" dist="38100" dir="5400000">
              <a:srgbClr val="1F5F3C">
                <a:alpha val="18000"/>
              </a:srgbClr>
            </a:outerShdw>
          </a:effectLst>
        </p:spPr>
      </p:sp>
      <p:pic>
        <p:nvPicPr>
          <p:cNvPr id="8" name="Image 1" descr="/tmp/claude-0/scratchpad/shots/cropped/img_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7158" y="1563624"/>
            <a:ext cx="2209836" cy="47823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62636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Профиль: имя, должность, email, стаж, предметы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Okurmen KIDS LMS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ЧАСТЫЕ ОШИБКИ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Частые ошибки и что делать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2529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Короткие решения для ситуаций, которые встречаются чаще всего.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1183112" cy="713232"/>
          </a:xfrm>
          <a:prstGeom prst="roundRect">
            <a:avLst>
              <a:gd name="adj" fmla="val 12821"/>
            </a:avLst>
          </a:prstGeom>
          <a:solidFill>
            <a:srgbClr val="E7F3E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11680"/>
            <a:ext cx="347472" cy="3474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90195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получается войти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90195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Проверьте раскладку клавиатуры и Caps Lock. Логин и пароль выдаёт администратор — уточните их, если забыли.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670048"/>
            <a:ext cx="11183112" cy="713232"/>
          </a:xfrm>
          <a:prstGeom prst="roundRect">
            <a:avLst>
              <a:gd name="adj" fmla="val 12821"/>
            </a:avLst>
          </a:prstGeom>
          <a:solidFill>
            <a:srgbClr val="E7F3EC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852928"/>
            <a:ext cx="347472" cy="3474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7432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недоступен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74320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покажет сообщение «Сервер недоступен» — проверьте интернет-соединение и повторите попытку.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511296"/>
            <a:ext cx="11183112" cy="713232"/>
          </a:xfrm>
          <a:prstGeom prst="roundRect">
            <a:avLst>
              <a:gd name="adj" fmla="val 12821"/>
            </a:avLst>
          </a:prstGeom>
          <a:solidFill>
            <a:srgbClr val="E7F3EC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694176"/>
            <a:ext cx="347472" cy="3474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5844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вижу свою группу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584448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Убедитесь, что группа закреплена за вами в системе — при ошибке обратитесь к администратору.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352544"/>
            <a:ext cx="11183112" cy="713232"/>
          </a:xfrm>
          <a:prstGeom prst="roundRect">
            <a:avLst>
              <a:gd name="adj" fmla="val 12821"/>
            </a:avLst>
          </a:prstGeom>
          <a:solidFill>
            <a:srgbClr val="E7F3EC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535424"/>
            <a:ext cx="347472" cy="3474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535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42569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 изменить посещаемость или ДЗ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4425696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уже в статусе «Проведено» — после завершения занятия редактирование закрывается.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5193792"/>
            <a:ext cx="11183112" cy="713232"/>
          </a:xfrm>
          <a:prstGeom prst="roundRect">
            <a:avLst>
              <a:gd name="adj" fmla="val 12821"/>
            </a:avLst>
          </a:prstGeom>
          <a:solidFill>
            <a:srgbClr val="E7F3EC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5376672"/>
            <a:ext cx="347472" cy="3474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5376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526694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вижу нужный раздел в меню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5266944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разделов (Студенты, Занятия, Посещаемость как отдельные пункты) доступна только администратору — тренер работает с этими данными через карточку своей группы.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Okurmen KIDS LMS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ЧЕК-ЛИСТ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Чек-лист тренера на каждый урок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2529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порядок действий до, во время и после занятия.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3520440" cy="566928"/>
          </a:xfrm>
          <a:prstGeom prst="roundRect">
            <a:avLst>
              <a:gd name="adj" fmla="val 19355"/>
            </a:avLst>
          </a:prstGeom>
          <a:solidFill>
            <a:srgbClr val="1F5F3C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157984"/>
            <a:ext cx="3520440" cy="283464"/>
          </a:xfrm>
          <a:prstGeom prst="rect">
            <a:avLst/>
          </a:prstGeom>
          <a:solidFill>
            <a:srgbClr val="1F5F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занятия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E7F3EC"/>
          </a:solidFill>
          <a:ln w="15875">
            <a:solidFill>
              <a:srgbClr val="2F8F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9848" y="262432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расписание на сегодня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70332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E7F3EC"/>
          </a:solidFill>
          <a:ln w="15875">
            <a:solidFill>
              <a:srgbClr val="2F8F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9848" y="363016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карточку занятия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70916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E7F3EC"/>
          </a:solidFill>
          <a:ln w="15875">
            <a:solidFill>
              <a:srgbClr val="2F8F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" y="463600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Свериться со списком студентов группы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34256" y="18745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34256" y="1874520"/>
            <a:ext cx="3520440" cy="566928"/>
          </a:xfrm>
          <a:prstGeom prst="roundRect">
            <a:avLst>
              <a:gd name="adj" fmla="val 19355"/>
            </a:avLst>
          </a:prstGeom>
          <a:solidFill>
            <a:srgbClr val="1F5F3C"/>
          </a:solidFill>
          <a:ln/>
        </p:spPr>
      </p:sp>
      <p:sp>
        <p:nvSpPr>
          <p:cNvPr id="17" name="Shape 15"/>
          <p:cNvSpPr/>
          <p:nvPr/>
        </p:nvSpPr>
        <p:spPr>
          <a:xfrm>
            <a:off x="4334256" y="2157984"/>
            <a:ext cx="3520440" cy="283464"/>
          </a:xfrm>
          <a:prstGeom prst="rect">
            <a:avLst/>
          </a:prstGeom>
          <a:solidFill>
            <a:srgbClr val="1F5F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62856" y="18745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время занятия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62856" y="269748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E7F3EC"/>
          </a:solidFill>
          <a:ln w="15875">
            <a:solidFill>
              <a:srgbClr val="2F8F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01184" y="262432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Начать занятие в системе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62856" y="370332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E7F3EC"/>
          </a:solidFill>
          <a:ln w="15875">
            <a:solidFill>
              <a:srgbClr val="2F8F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01184" y="363016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Отметить посещаемость каждого студента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62856" y="470916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E7F3EC"/>
          </a:solidFill>
          <a:ln w="15875">
            <a:solidFill>
              <a:srgbClr val="2F8F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01184" y="463600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необходимости выдать домашнее задание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65592" y="18745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65592" y="1874520"/>
            <a:ext cx="3520440" cy="566928"/>
          </a:xfrm>
          <a:prstGeom prst="roundRect">
            <a:avLst>
              <a:gd name="adj" fmla="val 19355"/>
            </a:avLst>
          </a:prstGeom>
          <a:solidFill>
            <a:srgbClr val="1F5F3C"/>
          </a:solidFill>
          <a:ln/>
        </p:spPr>
      </p:sp>
      <p:sp>
        <p:nvSpPr>
          <p:cNvPr id="27" name="Shape 25"/>
          <p:cNvSpPr/>
          <p:nvPr/>
        </p:nvSpPr>
        <p:spPr>
          <a:xfrm>
            <a:off x="8165592" y="2157984"/>
            <a:ext cx="3520440" cy="283464"/>
          </a:xfrm>
          <a:prstGeom prst="rect">
            <a:avLst/>
          </a:prstGeom>
          <a:solidFill>
            <a:srgbClr val="1F5F3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394192" y="18745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занятия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394192" y="269748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E7F3EC"/>
          </a:solidFill>
          <a:ln w="15875">
            <a:solidFill>
              <a:srgbClr val="2F8F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732520" y="262432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Завершить занятие в системе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94192" y="370332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E7F3EC"/>
          </a:solidFill>
          <a:ln w="15875">
            <a:solidFill>
              <a:srgbClr val="2F8F5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732520" y="363016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и оценить сданные ДЗ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394192" y="470916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E7F3EC"/>
          </a:solidFill>
          <a:ln w="15875">
            <a:solidFill>
              <a:srgbClr val="2F8F5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32520" y="463600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новости от администрации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Okurmen KIDS LMS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023360"/>
            <a:ext cx="5029200" cy="5029200"/>
          </a:xfrm>
          <a:prstGeom prst="ellipse">
            <a:avLst/>
          </a:prstGeom>
          <a:solidFill>
            <a:srgbClr val="1F5F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ПЕРЕД НАЧАЛОМ РАБОТЫ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Что нужно сделать тренеру перед началом работы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61848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B4F32"/>
          </a:solidFill>
          <a:ln w="19050">
            <a:solidFill>
              <a:srgbClr val="2F8F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160020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LMS по ссылке okurmen-kids-drab.vercel.app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03911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B4F32"/>
          </a:solidFill>
          <a:ln w="19050">
            <a:solidFill>
              <a:srgbClr val="2F8F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6968" y="202082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Войти по логину и паролю, выданным администратором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45973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B4F32"/>
          </a:solidFill>
          <a:ln w="19050">
            <a:solidFill>
              <a:srgbClr val="2F8F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244144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доступ и корректность своих данных в «Профиле»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88036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B4F32"/>
          </a:solidFill>
          <a:ln w="19050">
            <a:solidFill>
              <a:srgbClr val="2F8F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286207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Ознакомиться со своими группами в разделе «Мои группы»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30098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B4F32"/>
          </a:solidFill>
          <a:ln w="19050">
            <a:solidFill>
              <a:srgbClr val="2F8F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" y="328269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расписание занятий на неделю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7216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B4F32"/>
          </a:solidFill>
          <a:ln w="19050">
            <a:solidFill>
              <a:srgbClr val="2F8F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37033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вкладки группы: Студенты, Посещаемость, Домашние задания, KPI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1422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B4F32"/>
          </a:solidFill>
          <a:ln w="19050">
            <a:solidFill>
              <a:srgbClr val="2F8F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68" y="412394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Обратиться к администратору при любых проблемах с доступом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35240" y="1600200"/>
            <a:ext cx="4069080" cy="4617720"/>
          </a:xfrm>
          <a:prstGeom prst="roundRect">
            <a:avLst>
              <a:gd name="adj" fmla="val 2697"/>
            </a:avLst>
          </a:prstGeom>
          <a:solidFill>
            <a:srgbClr val="163F29"/>
          </a:solidFill>
          <a:ln w="12700">
            <a:solidFill>
              <a:srgbClr val="2E7A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09560" y="18288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уточнить у команды разработки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2468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Учебные материалы к занятиям (файлы, презентации, ссылки) — в интерфейсе не найдены.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34290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Push- или email-уведомления — подтверждён только раздел «Новости» с колокольчиком.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43891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Отдельная карточка студента с полной историей — доступна по клику, но не проверена подробно.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Okurmen KIDS LMS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Okurmen KIDS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Okurmen KIDS LMS — Инструкция для тренеров</dc:title>
  <dc:subject>PptxGenJS Presentation</dc:subject>
  <dc:creator>Okurmen KIDS</dc:creator>
  <cp:lastModifiedBy>Okurmen KIDS</cp:lastModifiedBy>
  <cp:revision>1</cp:revision>
  <dcterms:created xsi:type="dcterms:W3CDTF">2026-09-22T07:50:32Z</dcterms:created>
  <dcterms:modified xsi:type="dcterms:W3CDTF">2026-09-22T07:50:32Z</dcterms:modified>
</cp:coreProperties>
</file>