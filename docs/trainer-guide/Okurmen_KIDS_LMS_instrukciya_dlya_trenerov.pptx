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1.png"/><Relationship Id="rId3" Type="http://schemas.openxmlformats.org/officeDocument/2006/relationships/image" Target="../media/image-14-1.png"/><Relationship Id="rId4" Type="http://schemas.openxmlformats.org/officeDocument/2006/relationships/image" Target="../media/image-14-1.png"/><Relationship Id="rId5" Type="http://schemas.openxmlformats.org/officeDocument/2006/relationships/image" Target="../media/image-14-1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4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1F5F3C"/>
          </a:solidFill>
          <a:ln/>
        </p:spPr>
      </p:sp>
      <p:sp>
        <p:nvSpPr>
          <p:cNvPr id="3" name="Shape 1"/>
          <p:cNvSpPr/>
          <p:nvPr/>
        </p:nvSpPr>
        <p:spPr>
          <a:xfrm>
            <a:off x="-2194560" y="4206240"/>
            <a:ext cx="4754880" cy="4754880"/>
          </a:xfrm>
          <a:prstGeom prst="ellipse">
            <a:avLst/>
          </a:prstGeom>
          <a:solidFill>
            <a:srgbClr val="224E33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685800"/>
            <a:ext cx="1051560" cy="1051560"/>
          </a:xfrm>
          <a:prstGeom prst="roundRect">
            <a:avLst>
              <a:gd name="adj" fmla="val 19130"/>
            </a:avLst>
          </a:prstGeom>
          <a:solidFill>
            <a:srgbClr val="FFFFFF"/>
          </a:solidFill>
          <a:ln/>
        </p:spPr>
      </p:sp>
      <p:pic>
        <p:nvPicPr>
          <p:cNvPr id="5" name="Image 0" descr="/tmp/claude-0/scratchpad/shots/cropped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819570"/>
            <a:ext cx="868680" cy="784021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1965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FE7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OKURMEN KIDS · LMS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2331720"/>
            <a:ext cx="9601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Инструкция для тренеров</a:t>
            </a:r>
            <a:endParaRPr lang="en-US" sz="44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361188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D9EB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пользоваться личным кабинетом: группы, расписание, посещаемость,</a:t>
            </a:r>
            <a:endParaRPr lang="en-US" sz="1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D9EB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домашние задания и аналитика.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434340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E7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Тренерлер үчүн кыскача көрсөтмө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02920" y="5623560"/>
            <a:ext cx="7863840" cy="566928"/>
          </a:xfrm>
          <a:prstGeom prst="roundRect">
            <a:avLst>
              <a:gd name="adj" fmla="val 50000"/>
            </a:avLst>
          </a:prstGeom>
          <a:solidFill>
            <a:srgbClr val="1B4F32"/>
          </a:solidFill>
          <a:ln w="12700">
            <a:solidFill>
              <a:srgbClr val="2E7A5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5623560"/>
            <a:ext cx="7406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okurmen-kids-drab.vercel.app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8F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ВВЕДЕНИЕ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9601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2622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Что такое Okurmen KIDS LMS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225296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6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Рабочий веб-кабинет тренера академии Okurmen KIDS — единое место для группы, расписания и отчётности.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9659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E7F3EC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2240280"/>
            <a:ext cx="548640" cy="548640"/>
          </a:xfrm>
          <a:prstGeom prst="ellipse">
            <a:avLst/>
          </a:prstGeom>
          <a:solidFill>
            <a:srgbClr val="2F8F5B"/>
          </a:solidFill>
          <a:ln/>
        </p:spPr>
      </p:sp>
      <p:pic>
        <p:nvPicPr>
          <p:cNvPr id="7" name="Image 0" descr="/tmp/claude-0/scratchpad/shots/cropped/ic_calend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5373" y="2388413"/>
            <a:ext cx="252374" cy="25237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77240" y="292608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5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Расписание и занятия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264408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B56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занятия по группам, статусы «Запланировано / Идёт занятие / Проведено».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297680" y="19659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E7F3EC"/>
          </a:solidFill>
          <a:ln/>
        </p:spPr>
      </p:sp>
      <p:sp>
        <p:nvSpPr>
          <p:cNvPr id="11" name="Shape 8"/>
          <p:cNvSpPr/>
          <p:nvPr/>
        </p:nvSpPr>
        <p:spPr>
          <a:xfrm>
            <a:off x="4572000" y="2240280"/>
            <a:ext cx="548640" cy="548640"/>
          </a:xfrm>
          <a:prstGeom prst="ellipse">
            <a:avLst/>
          </a:prstGeom>
          <a:solidFill>
            <a:srgbClr val="2F8F5B"/>
          </a:solidFill>
          <a:ln/>
        </p:spPr>
      </p:sp>
      <p:pic>
        <p:nvPicPr>
          <p:cNvPr id="12" name="Image 1" descr="/tmp/claude-0/scratchpad/shots/cropped/ic_clipboar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0133" y="2388413"/>
            <a:ext cx="252374" cy="25237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572000" y="292608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5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Посещаемость и ДЗ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572000" y="3264408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B56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Отмечайте присутствие и проверяйте домашние задания студентов.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8092440" y="19659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E7F3EC"/>
          </a:solidFill>
          <a:ln/>
        </p:spPr>
      </p:sp>
      <p:sp>
        <p:nvSpPr>
          <p:cNvPr id="16" name="Shape 12"/>
          <p:cNvSpPr/>
          <p:nvPr/>
        </p:nvSpPr>
        <p:spPr>
          <a:xfrm>
            <a:off x="8366760" y="2240280"/>
            <a:ext cx="548640" cy="548640"/>
          </a:xfrm>
          <a:prstGeom prst="ellipse">
            <a:avLst/>
          </a:prstGeom>
          <a:solidFill>
            <a:srgbClr val="2F8F5B"/>
          </a:solidFill>
          <a:ln/>
        </p:spPr>
      </p:sp>
      <p:pic>
        <p:nvPicPr>
          <p:cNvPr id="17" name="Image 2" descr="/tmp/claude-0/scratchpad/shots/cropped/ic_barchar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4893" y="2388413"/>
            <a:ext cx="252374" cy="25237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366760" y="292608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5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и отчёты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366760" y="3264408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B56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Аналитика по группам и ежемесячные отчёты о вашей работе.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502920" y="4160520"/>
            <a:ext cx="11183112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DCE7E1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822960" y="4370832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0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Кому предназначена презентация</a:t>
            </a:r>
            <a:endParaRPr lang="en-US" sz="1300" dirty="0"/>
          </a:p>
        </p:txBody>
      </p:sp>
      <p:sp>
        <p:nvSpPr>
          <p:cNvPr id="22" name="Text 17"/>
          <p:cNvSpPr txBox="1"/>
          <p:nvPr/>
        </p:nvSpPr>
        <p:spPr>
          <a:xfrm>
            <a:off x="822960" y="4736592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B56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Инструкция составлена для тренеров и преподавателей академии на основе реального интерфейса системы — все шаги и скриншоты сняты в личном кабинете тренера. Раздел «Что нужно уточнить» в конце презентации перечисляет функции, которые пока нельзя подтвердить по интерфейсу.</a:t>
            </a:r>
            <a:endParaRPr lang="en-US" sz="1250" dirty="0"/>
          </a:p>
        </p:txBody>
      </p:sp>
      <p:sp>
        <p:nvSpPr>
          <p:cNvPr id="23" name="Text 1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24" name="Text 19"/>
          <p:cNvSpPr txBox="1"/>
          <p:nvPr/>
        </p:nvSpPr>
        <p:spPr>
          <a:xfrm>
            <a:off x="50292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Okurmen KIDS LMS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8F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ВХОД В СИСТЕМУ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9601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2622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Как войти в личный кабинет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225296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6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Вход по логину и паролю, которые выдаёт администратор академии.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828800"/>
            <a:ext cx="4297680" cy="4343400"/>
          </a:xfrm>
          <a:prstGeom prst="roundRect">
            <a:avLst>
              <a:gd name="adj" fmla="val 2553"/>
            </a:avLst>
          </a:prstGeom>
          <a:solidFill>
            <a:srgbClr val="E7F3E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95528" y="2084832"/>
            <a:ext cx="3712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5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Пошагово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95528" y="2532888"/>
            <a:ext cx="292608" cy="292608"/>
          </a:xfrm>
          <a:prstGeom prst="ellipse">
            <a:avLst/>
          </a:prstGeom>
          <a:solidFill>
            <a:srgbClr val="2F8F5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95528" y="25328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97864" y="2478024"/>
            <a:ext cx="3310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20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Откройте okurmen-kids-drab.vercel.app в браузере.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95528" y="3099816"/>
            <a:ext cx="292608" cy="292608"/>
          </a:xfrm>
          <a:prstGeom prst="ellipse">
            <a:avLst/>
          </a:prstGeom>
          <a:solidFill>
            <a:srgbClr val="2F8F5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95528" y="30998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197864" y="3044952"/>
            <a:ext cx="3310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20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Введите логин в поле «Логин».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95528" y="3666744"/>
            <a:ext cx="292608" cy="292608"/>
          </a:xfrm>
          <a:prstGeom prst="ellipse">
            <a:avLst/>
          </a:prstGeom>
          <a:solidFill>
            <a:srgbClr val="2F8F5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95528" y="36667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197864" y="3611880"/>
            <a:ext cx="3310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20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Введите пароль в поле «Пароль».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95528" y="4233672"/>
            <a:ext cx="292608" cy="292608"/>
          </a:xfrm>
          <a:prstGeom prst="ellipse">
            <a:avLst/>
          </a:prstGeom>
          <a:solidFill>
            <a:srgbClr val="2F8F5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95528" y="42336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197864" y="4178808"/>
            <a:ext cx="3310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20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Нажмите зелёную кнопку «Войти».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95528" y="4800600"/>
            <a:ext cx="292608" cy="292608"/>
          </a:xfrm>
          <a:prstGeom prst="ellipse">
            <a:avLst/>
          </a:prstGeom>
          <a:solidFill>
            <a:srgbClr val="2F8F5B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95528" y="4800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97864" y="4745736"/>
            <a:ext cx="3310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20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 ошибке проверьте логин/пароль или обратитесь к администратору.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795528" y="5605272"/>
            <a:ext cx="3712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4B56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Логин и пароль тренеру выдаёт администратор академии — самостоятельная регистрация в системе не предусмотрена.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074920" y="1828800"/>
            <a:ext cx="6611112" cy="4343400"/>
          </a:xfrm>
          <a:prstGeom prst="roundRect">
            <a:avLst>
              <a:gd name="adj" fmla="val 2526"/>
            </a:avLst>
          </a:prstGeom>
          <a:solidFill>
            <a:srgbClr val="FFFFFF"/>
          </a:solidFill>
          <a:ln w="12700">
            <a:solidFill>
              <a:srgbClr val="DCE7E1"/>
            </a:solidFill>
            <a:prstDash val="solid"/>
          </a:ln>
          <a:effectLst>
            <a:outerShdw sx="100000" sy="100000" kx="0" ky="0" algn="bl" rotWithShape="0" blurRad="127000" dist="38100" dir="5400000">
              <a:srgbClr val="1F5F3C">
                <a:alpha val="18000"/>
              </a:srgbClr>
            </a:outerShdw>
          </a:effectLst>
        </p:spPr>
      </p:sp>
      <p:pic>
        <p:nvPicPr>
          <p:cNvPr id="24" name="Image 0" descr="/tmp/claude-0/scratchpad/shots/cropped/img_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21224" y="2438425"/>
            <a:ext cx="6318504" cy="3124149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50292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Okurmen KIDS LMS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8F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ГЛАВНАЯ СТРАНИЦА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9601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2622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Страница «Сегодня» и навигация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225296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6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После входа вы попадаете на дашборд — сводку по текущему дню и меню слева.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828800"/>
            <a:ext cx="4297680" cy="4343400"/>
          </a:xfrm>
          <a:prstGeom prst="roundRect">
            <a:avLst>
              <a:gd name="adj" fmla="val 2553"/>
            </a:avLst>
          </a:prstGeom>
          <a:solidFill>
            <a:srgbClr val="E7F3E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95528" y="2084832"/>
            <a:ext cx="3712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5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на странице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95528" y="2532888"/>
            <a:ext cx="292608" cy="292608"/>
          </a:xfrm>
          <a:prstGeom prst="ellipse">
            <a:avLst/>
          </a:prstGeom>
          <a:solidFill>
            <a:srgbClr val="2F8F5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95528" y="25328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97864" y="2478024"/>
            <a:ext cx="3310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20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Карточки: занятия сегодня, число студентов, посещаемость, ДЗ на проверку.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95528" y="3099816"/>
            <a:ext cx="292608" cy="292608"/>
          </a:xfrm>
          <a:prstGeom prst="ellipse">
            <a:avLst/>
          </a:prstGeom>
          <a:solidFill>
            <a:srgbClr val="2F8F5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95528" y="30998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197864" y="3044952"/>
            <a:ext cx="3310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20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Блок «Новости» — объявления администрации.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95528" y="3666744"/>
            <a:ext cx="292608" cy="292608"/>
          </a:xfrm>
          <a:prstGeom prst="ellipse">
            <a:avLst/>
          </a:prstGeom>
          <a:solidFill>
            <a:srgbClr val="2F8F5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95528" y="36667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197864" y="3611880"/>
            <a:ext cx="3310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20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Списки занятий: сегодня, завтра, ближайшие.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95528" y="4233672"/>
            <a:ext cx="292608" cy="292608"/>
          </a:xfrm>
          <a:prstGeom prst="ellipse">
            <a:avLst/>
          </a:prstGeom>
          <a:solidFill>
            <a:srgbClr val="2F8F5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95528" y="42336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197864" y="4178808"/>
            <a:ext cx="3310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20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Слева — меню разделов, справа сверху — колокольчик новостей и профиль.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074920" y="1828800"/>
            <a:ext cx="6611112" cy="4343400"/>
          </a:xfrm>
          <a:prstGeom prst="roundRect">
            <a:avLst>
              <a:gd name="adj" fmla="val 2526"/>
            </a:avLst>
          </a:prstGeom>
          <a:solidFill>
            <a:srgbClr val="FFFFFF"/>
          </a:solidFill>
          <a:ln w="12700">
            <a:solidFill>
              <a:srgbClr val="DCE7E1"/>
            </a:solidFill>
            <a:prstDash val="solid"/>
          </a:ln>
          <a:effectLst>
            <a:outerShdw sx="100000" sy="100000" kx="0" ky="0" algn="bl" rotWithShape="0" blurRad="127000" dist="38100" dir="5400000">
              <a:srgbClr val="1F5F3C">
                <a:alpha val="18000"/>
              </a:srgbClr>
            </a:outerShdw>
          </a:effectLst>
        </p:spPr>
      </p:sp>
      <p:pic>
        <p:nvPicPr>
          <p:cNvPr id="20" name="Image 0" descr="/tmp/claude-0/scratchpad/shots/cropped/img_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21224" y="2025968"/>
            <a:ext cx="6318504" cy="3949065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50292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Okurmen KIDS LMS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8F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МОИ ГРУППЫ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9601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2622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Как найти свою группу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225296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6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«Мои группы» показывает только группы, закреплённые за вами.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828800"/>
            <a:ext cx="4297680" cy="4343400"/>
          </a:xfrm>
          <a:prstGeom prst="roundRect">
            <a:avLst>
              <a:gd name="adj" fmla="val 2553"/>
            </a:avLst>
          </a:prstGeom>
          <a:solidFill>
            <a:srgbClr val="E7F3E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95528" y="2084832"/>
            <a:ext cx="3712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5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Пошагово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95528" y="2532888"/>
            <a:ext cx="292608" cy="292608"/>
          </a:xfrm>
          <a:prstGeom prst="ellipse">
            <a:avLst/>
          </a:prstGeom>
          <a:solidFill>
            <a:srgbClr val="2F8F5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95528" y="25328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97864" y="2478024"/>
            <a:ext cx="3310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20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меню слева откройте «Мои группы».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95528" y="3099816"/>
            <a:ext cx="292608" cy="292608"/>
          </a:xfrm>
          <a:prstGeom prst="ellipse">
            <a:avLst/>
          </a:prstGeom>
          <a:solidFill>
            <a:srgbClr val="2F8F5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95528" y="30998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197864" y="3044952"/>
            <a:ext cx="3310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20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 необходимости используйте поиск по названию или фильтр по статусу.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95528" y="3666744"/>
            <a:ext cx="292608" cy="292608"/>
          </a:xfrm>
          <a:prstGeom prst="ellipse">
            <a:avLst/>
          </a:prstGeom>
          <a:solidFill>
            <a:srgbClr val="2F8F5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95528" y="36667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197864" y="3611880"/>
            <a:ext cx="3310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20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карточке группы видно число студентов, кол-во программ и дни занятий.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95528" y="4233672"/>
            <a:ext cx="292608" cy="292608"/>
          </a:xfrm>
          <a:prstGeom prst="ellipse">
            <a:avLst/>
          </a:prstGeom>
          <a:solidFill>
            <a:srgbClr val="2F8F5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95528" y="42336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197864" y="4178808"/>
            <a:ext cx="3310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20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Нажмите на карточку, чтобы открыть группу.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074920" y="1828800"/>
            <a:ext cx="6611112" cy="4343400"/>
          </a:xfrm>
          <a:prstGeom prst="roundRect">
            <a:avLst>
              <a:gd name="adj" fmla="val 2526"/>
            </a:avLst>
          </a:prstGeom>
          <a:solidFill>
            <a:srgbClr val="FFFFFF"/>
          </a:solidFill>
          <a:ln w="12700">
            <a:solidFill>
              <a:srgbClr val="DCE7E1"/>
            </a:solidFill>
            <a:prstDash val="solid"/>
          </a:ln>
          <a:effectLst>
            <a:outerShdw sx="100000" sy="100000" kx="0" ky="0" algn="bl" rotWithShape="0" blurRad="127000" dist="38100" dir="5400000">
              <a:srgbClr val="1F5F3C">
                <a:alpha val="18000"/>
              </a:srgbClr>
            </a:outerShdw>
          </a:effectLst>
        </p:spPr>
      </p:sp>
      <p:pic>
        <p:nvPicPr>
          <p:cNvPr id="20" name="Image 0" descr="/tmp/claude-0/scratchpad/shots/cropped/img_group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21224" y="2025968"/>
            <a:ext cx="6318504" cy="3949065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50292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Okurmen KIDS LMS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8F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СТУДЕНТЫ ГРУППЫ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9601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2622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Карточка группы: студенты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225296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6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Внутри группы — вкладки: Обзор, Студенты, Расписание, Посещаемость, Домашние задания, KPI.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828800"/>
            <a:ext cx="5440680" cy="4343400"/>
          </a:xfrm>
          <a:prstGeom prst="roundRect">
            <a:avLst>
              <a:gd name="adj" fmla="val 2526"/>
            </a:avLst>
          </a:prstGeom>
          <a:solidFill>
            <a:srgbClr val="FFFFFF"/>
          </a:solidFill>
          <a:ln w="12700">
            <a:solidFill>
              <a:srgbClr val="DCE7E1"/>
            </a:solidFill>
            <a:prstDash val="solid"/>
          </a:ln>
          <a:effectLst>
            <a:outerShdw sx="100000" sy="100000" kx="0" ky="0" algn="bl" rotWithShape="0" blurRad="127000" dist="38100" dir="5400000">
              <a:srgbClr val="1F5F3C">
                <a:alpha val="18000"/>
              </a:srgbClr>
            </a:outerShdw>
          </a:effectLst>
        </p:spPr>
      </p:sp>
      <p:pic>
        <p:nvPicPr>
          <p:cNvPr id="6" name="Image 0" descr="/tmp/claude-0/scratchpad/shots/cropped/img_group_over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" y="2391728"/>
            <a:ext cx="5148072" cy="3217545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172200" y="1828800"/>
            <a:ext cx="5513832" cy="4343400"/>
          </a:xfrm>
          <a:prstGeom prst="roundRect">
            <a:avLst>
              <a:gd name="adj" fmla="val 2526"/>
            </a:avLst>
          </a:prstGeom>
          <a:solidFill>
            <a:srgbClr val="FFFFFF"/>
          </a:solidFill>
          <a:ln w="12700">
            <a:solidFill>
              <a:srgbClr val="DCE7E1"/>
            </a:solidFill>
            <a:prstDash val="solid"/>
          </a:ln>
          <a:effectLst>
            <a:outerShdw sx="100000" sy="100000" kx="0" ky="0" algn="bl" rotWithShape="0" blurRad="127000" dist="38100" dir="5400000">
              <a:srgbClr val="1F5F3C">
                <a:alpha val="18000"/>
              </a:srgbClr>
            </a:outerShdw>
          </a:effectLst>
        </p:spPr>
      </p:sp>
      <p:pic>
        <p:nvPicPr>
          <p:cNvPr id="8" name="Image 1" descr="/tmp/claude-0/scratchpad/shots/cropped/img_group_studen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8504" y="2368868"/>
            <a:ext cx="5221224" cy="326326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02920" y="6263640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5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Обзор группы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6172200" y="6263640"/>
            <a:ext cx="5513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5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Вкладка «Студенты» — список группы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50292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Okurmen KIDS LMS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8F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РАСПИСАНИЕ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9601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2622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Расписание и занятия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225296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6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«Расписание» показывает ваши занятия по неделям или дням.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828800"/>
            <a:ext cx="4297680" cy="4343400"/>
          </a:xfrm>
          <a:prstGeom prst="roundRect">
            <a:avLst>
              <a:gd name="adj" fmla="val 2553"/>
            </a:avLst>
          </a:prstGeom>
          <a:solidFill>
            <a:srgbClr val="E7F3E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95528" y="2084832"/>
            <a:ext cx="3712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5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Возможности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95528" y="2532888"/>
            <a:ext cx="292608" cy="292608"/>
          </a:xfrm>
          <a:prstGeom prst="ellipse">
            <a:avLst/>
          </a:prstGeom>
          <a:solidFill>
            <a:srgbClr val="2F8F5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95528" y="25328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97864" y="2478024"/>
            <a:ext cx="3310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20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Переключение «Неделя / День» и стрелки для смены периода.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95528" y="3099816"/>
            <a:ext cx="292608" cy="292608"/>
          </a:xfrm>
          <a:prstGeom prst="ellipse">
            <a:avLst/>
          </a:prstGeom>
          <a:solidFill>
            <a:srgbClr val="2F8F5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95528" y="30998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197864" y="3044952"/>
            <a:ext cx="3310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20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Фильтры: группа, предмет, аудитория, статус занятия.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95528" y="3666744"/>
            <a:ext cx="292608" cy="292608"/>
          </a:xfrm>
          <a:prstGeom prst="ellipse">
            <a:avLst/>
          </a:prstGeom>
          <a:solidFill>
            <a:srgbClr val="2F8F5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95528" y="36667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197864" y="3611880"/>
            <a:ext cx="3310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20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Кнопка «Свободные аудитории» — поиск свободного кабинета.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95528" y="4233672"/>
            <a:ext cx="292608" cy="292608"/>
          </a:xfrm>
          <a:prstGeom prst="ellipse">
            <a:avLst/>
          </a:prstGeom>
          <a:solidFill>
            <a:srgbClr val="2F8F5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95528" y="42336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197864" y="4178808"/>
            <a:ext cx="3310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20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Клик по занятию открывает его карточку с деталями.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795528" y="5605272"/>
            <a:ext cx="3712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4B56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Статусы занятия: Запланировано → Идёт занятие → Проведено (или Отменено).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074920" y="1828800"/>
            <a:ext cx="6611112" cy="4343400"/>
          </a:xfrm>
          <a:prstGeom prst="roundRect">
            <a:avLst>
              <a:gd name="adj" fmla="val 2526"/>
            </a:avLst>
          </a:prstGeom>
          <a:solidFill>
            <a:srgbClr val="FFFFFF"/>
          </a:solidFill>
          <a:ln w="12700">
            <a:solidFill>
              <a:srgbClr val="DCE7E1"/>
            </a:solidFill>
            <a:prstDash val="solid"/>
          </a:ln>
          <a:effectLst>
            <a:outerShdw sx="100000" sy="100000" kx="0" ky="0" algn="bl" rotWithShape="0" blurRad="127000" dist="38100" dir="5400000">
              <a:srgbClr val="1F5F3C">
                <a:alpha val="18000"/>
              </a:srgbClr>
            </a:outerShdw>
          </a:effectLst>
        </p:spPr>
      </p:sp>
      <p:pic>
        <p:nvPicPr>
          <p:cNvPr id="21" name="Image 0" descr="/tmp/claude-0/scratchpad/shots/cropped/img_schedu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21224" y="2025968"/>
            <a:ext cx="6318504" cy="3949065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50292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Okurmen KIDS LMS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8F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ПОСЕЩАЕМОСТЬ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9601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2622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Как работать с посещаемостью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225296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6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Отметки о присутствии видны на карточке занятия и во вкладке группы «Посещаемость».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828800"/>
            <a:ext cx="4297680" cy="4526280"/>
          </a:xfrm>
          <a:prstGeom prst="roundRect">
            <a:avLst>
              <a:gd name="adj" fmla="val 2553"/>
            </a:avLst>
          </a:prstGeom>
          <a:solidFill>
            <a:srgbClr val="E7F3E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95528" y="2084832"/>
            <a:ext cx="3712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5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Пошагово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95528" y="2532888"/>
            <a:ext cx="292608" cy="292608"/>
          </a:xfrm>
          <a:prstGeom prst="ellipse">
            <a:avLst/>
          </a:prstGeom>
          <a:solidFill>
            <a:srgbClr val="2F8F5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95528" y="25328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97864" y="2478024"/>
            <a:ext cx="3310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20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Откройте занятие из расписания или дашборда.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95528" y="3099816"/>
            <a:ext cx="292608" cy="292608"/>
          </a:xfrm>
          <a:prstGeom prst="ellipse">
            <a:avLst/>
          </a:prstGeom>
          <a:solidFill>
            <a:srgbClr val="2F8F5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95528" y="30998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197864" y="3044952"/>
            <a:ext cx="3310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20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Пока занятие «Идёт» — отметьте статус каждого студента.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95528" y="3666744"/>
            <a:ext cx="292608" cy="292608"/>
          </a:xfrm>
          <a:prstGeom prst="ellipse">
            <a:avLst/>
          </a:prstGeom>
          <a:solidFill>
            <a:srgbClr val="2F8F5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95528" y="36667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197864" y="3611880"/>
            <a:ext cx="3310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20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После завершения занятия карточка переходит в статус «Проведено» и становится доступна только для просмотра.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95528" y="4233672"/>
            <a:ext cx="292608" cy="292608"/>
          </a:xfrm>
          <a:prstGeom prst="ellipse">
            <a:avLst/>
          </a:prstGeom>
          <a:solidFill>
            <a:srgbClr val="2F8F5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95528" y="42336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197864" y="4178808"/>
            <a:ext cx="3310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20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Сводку по группе смотрите во вкладке «Посещаемость» карточки группы.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795528" y="5788152"/>
            <a:ext cx="3712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4B56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Статусы: Присутствовал / Опоздал / Отсутствовал / По уважительной причине.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074920" y="1828800"/>
            <a:ext cx="6611112" cy="452628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12700">
            <a:solidFill>
              <a:srgbClr val="DCE7E1"/>
            </a:solidFill>
            <a:prstDash val="solid"/>
          </a:ln>
          <a:effectLst>
            <a:outerShdw sx="100000" sy="100000" kx="0" ky="0" algn="bl" rotWithShape="0" blurRad="127000" dist="38100" dir="5400000">
              <a:srgbClr val="1F5F3C">
                <a:alpha val="18000"/>
              </a:srgbClr>
            </a:outerShdw>
          </a:effectLst>
        </p:spPr>
      </p:sp>
      <p:pic>
        <p:nvPicPr>
          <p:cNvPr id="21" name="Image 0" descr="/tmp/claude-0/scratchpad/shots/cropped/img_group_attenda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21224" y="2117408"/>
            <a:ext cx="6318504" cy="3949065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50292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Okurmen KIDS LMS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8F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· ДОМАШНИЕ ЗАДАНИЯ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9601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2622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Просмотр и проверка домашних заданий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225296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6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Список ДЗ находится во вкладке группы «Домашние задания», проверка — на карточке задания.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828800"/>
            <a:ext cx="4297680" cy="4526280"/>
          </a:xfrm>
          <a:prstGeom prst="roundRect">
            <a:avLst>
              <a:gd name="adj" fmla="val 2553"/>
            </a:avLst>
          </a:prstGeom>
          <a:solidFill>
            <a:srgbClr val="E7F3E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95528" y="2084832"/>
            <a:ext cx="3712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5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Пошагово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95528" y="2532888"/>
            <a:ext cx="292608" cy="292608"/>
          </a:xfrm>
          <a:prstGeom prst="ellipse">
            <a:avLst/>
          </a:prstGeom>
          <a:solidFill>
            <a:srgbClr val="2F8F5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95528" y="25328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97864" y="2478024"/>
            <a:ext cx="3310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20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Откройте группу → вкладку «Домашние задания».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95528" y="3099816"/>
            <a:ext cx="292608" cy="292608"/>
          </a:xfrm>
          <a:prstGeom prst="ellipse">
            <a:avLst/>
          </a:prstGeom>
          <a:solidFill>
            <a:srgbClr val="2F8F5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95528" y="30998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197864" y="3044952"/>
            <a:ext cx="3310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20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Выберите нужное задание из списка.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95528" y="3666744"/>
            <a:ext cx="292608" cy="292608"/>
          </a:xfrm>
          <a:prstGeom prst="ellipse">
            <a:avLst/>
          </a:prstGeom>
          <a:solidFill>
            <a:srgbClr val="2F8F5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95528" y="36667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197864" y="3611880"/>
            <a:ext cx="3310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20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карточке студента отметьте статус: Не сдано / Сдано / Сдано с опозданием / Проверено.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95528" y="4233672"/>
            <a:ext cx="292608" cy="292608"/>
          </a:xfrm>
          <a:prstGeom prst="ellipse">
            <a:avLst/>
          </a:prstGeom>
          <a:solidFill>
            <a:srgbClr val="2F8F5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95528" y="42336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197864" y="4178808"/>
            <a:ext cx="3310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20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Укажите балл (из 10) и, при необходимости, комментарий.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795528" y="5788152"/>
            <a:ext cx="3712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4B56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После завершения занятия результаты ДЗ закрываются для редактирования.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074920" y="1828800"/>
            <a:ext cx="6611112" cy="452628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12700">
            <a:solidFill>
              <a:srgbClr val="DCE7E1"/>
            </a:solidFill>
            <a:prstDash val="solid"/>
          </a:ln>
          <a:effectLst>
            <a:outerShdw sx="100000" sy="100000" kx="0" ky="0" algn="bl" rotWithShape="0" blurRad="127000" dist="38100" dir="5400000">
              <a:srgbClr val="1F5F3C">
                <a:alpha val="18000"/>
              </a:srgbClr>
            </a:outerShdw>
          </a:effectLst>
        </p:spPr>
      </p:sp>
      <p:pic>
        <p:nvPicPr>
          <p:cNvPr id="21" name="Image 0" descr="/tmp/claude-0/scratchpad/shots/cropped/img_homework_detai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0119" y="1975104"/>
            <a:ext cx="4900714" cy="4233672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50292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Okurmen KIDS LMS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8F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· АНАЛИТИКА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9601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2622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Результаты и аналитика (KPI)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225296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6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«KPI» считает показатели прямо по реальным данным посещаемости, занятий и ДЗ.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828800"/>
            <a:ext cx="4297680" cy="4343400"/>
          </a:xfrm>
          <a:prstGeom prst="roundRect">
            <a:avLst>
              <a:gd name="adj" fmla="val 2553"/>
            </a:avLst>
          </a:prstGeom>
          <a:solidFill>
            <a:srgbClr val="E7F3E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95528" y="2084832"/>
            <a:ext cx="3712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5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смотреть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95528" y="2532888"/>
            <a:ext cx="292608" cy="292608"/>
          </a:xfrm>
          <a:prstGeom prst="ellipse">
            <a:avLst/>
          </a:prstGeom>
          <a:solidFill>
            <a:srgbClr val="2F8F5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95528" y="25328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97864" y="2478024"/>
            <a:ext cx="3310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20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Academy Health — общий индекс качества работы.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95528" y="3099816"/>
            <a:ext cx="292608" cy="292608"/>
          </a:xfrm>
          <a:prstGeom prst="ellipse">
            <a:avLst/>
          </a:prstGeom>
          <a:solidFill>
            <a:srgbClr val="2F8F5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95528" y="30998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197864" y="3044952"/>
            <a:ext cx="3310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20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Посещаемость, сдача ДЗ, проведение занятий, удержание студентов.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95528" y="3666744"/>
            <a:ext cx="292608" cy="292608"/>
          </a:xfrm>
          <a:prstGeom prst="ellipse">
            <a:avLst/>
          </a:prstGeom>
          <a:solidFill>
            <a:srgbClr val="2F8F5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95528" y="36667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197864" y="3611880"/>
            <a:ext cx="3310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20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Фильтры по периоду, группе и предмету.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95528" y="4233672"/>
            <a:ext cx="292608" cy="292608"/>
          </a:xfrm>
          <a:prstGeom prst="ellipse">
            <a:avLst/>
          </a:prstGeom>
          <a:solidFill>
            <a:srgbClr val="2F8F5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95528" y="42336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197864" y="4178808"/>
            <a:ext cx="3310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20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Графики трендов по посещаемости и сдаче ДЗ.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074920" y="1828800"/>
            <a:ext cx="6611112" cy="4343400"/>
          </a:xfrm>
          <a:prstGeom prst="roundRect">
            <a:avLst>
              <a:gd name="adj" fmla="val 2526"/>
            </a:avLst>
          </a:prstGeom>
          <a:solidFill>
            <a:srgbClr val="FFFFFF"/>
          </a:solidFill>
          <a:ln w="12700">
            <a:solidFill>
              <a:srgbClr val="DCE7E1"/>
            </a:solidFill>
            <a:prstDash val="solid"/>
          </a:ln>
          <a:effectLst>
            <a:outerShdw sx="100000" sy="100000" kx="0" ky="0" algn="bl" rotWithShape="0" blurRad="127000" dist="38100" dir="5400000">
              <a:srgbClr val="1F5F3C">
                <a:alpha val="18000"/>
              </a:srgbClr>
            </a:outerShdw>
          </a:effectLst>
        </p:spPr>
      </p:sp>
      <p:pic>
        <p:nvPicPr>
          <p:cNvPr id="20" name="Image 0" descr="/tmp/claude-0/scratchpad/shots/cropped/img_kp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21224" y="2025968"/>
            <a:ext cx="6318504" cy="3949065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50292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Okurmen KIDS LMS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8F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ОТЧЁТЫ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9601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2622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Мои отчёты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225296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6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«Мои отчёты» — ежемесячные отчёты о вашей работе с итоговым KPI.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828800"/>
            <a:ext cx="4297680" cy="4343400"/>
          </a:xfrm>
          <a:prstGeom prst="roundRect">
            <a:avLst>
              <a:gd name="adj" fmla="val 2553"/>
            </a:avLst>
          </a:prstGeom>
          <a:solidFill>
            <a:srgbClr val="E7F3E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95528" y="2084832"/>
            <a:ext cx="3712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5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Пошагово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95528" y="2532888"/>
            <a:ext cx="292608" cy="292608"/>
          </a:xfrm>
          <a:prstGeom prst="ellipse">
            <a:avLst/>
          </a:prstGeom>
          <a:solidFill>
            <a:srgbClr val="2F8F5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95528" y="25328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97864" y="2478024"/>
            <a:ext cx="3310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20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Откройте «Мои отчёты» в меню слева.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95528" y="3099816"/>
            <a:ext cx="292608" cy="292608"/>
          </a:xfrm>
          <a:prstGeom prst="ellipse">
            <a:avLst/>
          </a:prstGeom>
          <a:solidFill>
            <a:srgbClr val="2F8F5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95528" y="30998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197864" y="3044952"/>
            <a:ext cx="3310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20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Каждая карточка — месяц: число занятий, студентов, групп и итоговый KPI.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95528" y="3666744"/>
            <a:ext cx="292608" cy="292608"/>
          </a:xfrm>
          <a:prstGeom prst="ellipse">
            <a:avLst/>
          </a:prstGeom>
          <a:solidFill>
            <a:srgbClr val="2F8F5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95528" y="36667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197864" y="3611880"/>
            <a:ext cx="3310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20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Нажмите «Открыть», чтобы посмотреть отчёт подробно.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95528" y="4233672"/>
            <a:ext cx="292608" cy="292608"/>
          </a:xfrm>
          <a:prstGeom prst="ellipse">
            <a:avLst/>
          </a:prstGeom>
          <a:solidFill>
            <a:srgbClr val="2F8F5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95528" y="42336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197864" y="4178808"/>
            <a:ext cx="3310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20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Кнопка «Создать отчёт» — если отчёт за период ещё не сформирован.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074920" y="1828800"/>
            <a:ext cx="6611112" cy="4343400"/>
          </a:xfrm>
          <a:prstGeom prst="roundRect">
            <a:avLst>
              <a:gd name="adj" fmla="val 2526"/>
            </a:avLst>
          </a:prstGeom>
          <a:solidFill>
            <a:srgbClr val="FFFFFF"/>
          </a:solidFill>
          <a:ln w="12700">
            <a:solidFill>
              <a:srgbClr val="DCE7E1"/>
            </a:solidFill>
            <a:prstDash val="solid"/>
          </a:ln>
          <a:effectLst>
            <a:outerShdw sx="100000" sy="100000" kx="0" ky="0" algn="bl" rotWithShape="0" blurRad="127000" dist="38100" dir="5400000">
              <a:srgbClr val="1F5F3C">
                <a:alpha val="18000"/>
              </a:srgbClr>
            </a:outerShdw>
          </a:effectLst>
        </p:spPr>
      </p:sp>
      <p:pic>
        <p:nvPicPr>
          <p:cNvPr id="20" name="Image 0" descr="/tmp/claude-0/scratchpad/shots/cropped/img_repor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21224" y="2025968"/>
            <a:ext cx="6318504" cy="3949065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50292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Okurmen KIDS LMS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8F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УВЕДОМЛЕНИЯ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9601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2622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Новости и важные действия тренера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225296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6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Объявления администрации приходят в раздел «Новости» с колокольчиком-счётчиком в шапке.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828800"/>
            <a:ext cx="4297680" cy="4343400"/>
          </a:xfrm>
          <a:prstGeom prst="roundRect">
            <a:avLst>
              <a:gd name="adj" fmla="val 2553"/>
            </a:avLst>
          </a:prstGeom>
          <a:solidFill>
            <a:srgbClr val="E7F3E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95528" y="2084832"/>
            <a:ext cx="3712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5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важно знать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95528" y="2532888"/>
            <a:ext cx="292608" cy="292608"/>
          </a:xfrm>
          <a:prstGeom prst="ellipse">
            <a:avLst/>
          </a:prstGeom>
          <a:solidFill>
            <a:srgbClr val="2F8F5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95528" y="25328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97864" y="2478024"/>
            <a:ext cx="3310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20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Значок колокольчика в правом верхнем углу показывает число непрочитанных новостей.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95528" y="3099816"/>
            <a:ext cx="292608" cy="292608"/>
          </a:xfrm>
          <a:prstGeom prst="ellipse">
            <a:avLst/>
          </a:prstGeom>
          <a:solidFill>
            <a:srgbClr val="2F8F5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95528" y="30998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197864" y="3044952"/>
            <a:ext cx="3310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20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Клик по колокольчику открывает раздел «Новости».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95528" y="3666744"/>
            <a:ext cx="292608" cy="292608"/>
          </a:xfrm>
          <a:prstGeom prst="ellipse">
            <a:avLst/>
          </a:prstGeom>
          <a:solidFill>
            <a:srgbClr val="2F8F5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95528" y="36667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197864" y="3611880"/>
            <a:ext cx="3310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20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Регулярно проверяйте новости — там объявления от администрации академии.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95528" y="4233672"/>
            <a:ext cx="292608" cy="292608"/>
          </a:xfrm>
          <a:prstGeom prst="ellipse">
            <a:avLst/>
          </a:prstGeom>
          <a:solidFill>
            <a:srgbClr val="2F8F5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95528" y="42336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197864" y="4178808"/>
            <a:ext cx="3310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20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Если новостей нет, раздел покажет пустое состояние — это нормально.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074920" y="1828800"/>
            <a:ext cx="6611112" cy="4343400"/>
          </a:xfrm>
          <a:prstGeom prst="roundRect">
            <a:avLst>
              <a:gd name="adj" fmla="val 2526"/>
            </a:avLst>
          </a:prstGeom>
          <a:solidFill>
            <a:srgbClr val="FFFFFF"/>
          </a:solidFill>
          <a:ln w="12700">
            <a:solidFill>
              <a:srgbClr val="DCE7E1"/>
            </a:solidFill>
            <a:prstDash val="solid"/>
          </a:ln>
          <a:effectLst>
            <a:outerShdw sx="100000" sy="100000" kx="0" ky="0" algn="bl" rotWithShape="0" blurRad="127000" dist="38100" dir="5400000">
              <a:srgbClr val="1F5F3C">
                <a:alpha val="18000"/>
              </a:srgbClr>
            </a:outerShdw>
          </a:effectLst>
        </p:spPr>
      </p:sp>
      <p:pic>
        <p:nvPicPr>
          <p:cNvPr id="20" name="Image 0" descr="/tmp/claude-0/scratchpad/shots/cropped/img_new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21224" y="2025968"/>
            <a:ext cx="6318504" cy="3949065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50292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Okurmen KIDS LMS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8F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· ПРОФИЛЬ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9601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2622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Профиль тренера и мобильная версия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225296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6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«Профиль» — ваши данные только для просмотра. LMS доступна и с телефона.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828800"/>
            <a:ext cx="7223760" cy="4343400"/>
          </a:xfrm>
          <a:prstGeom prst="roundRect">
            <a:avLst>
              <a:gd name="adj" fmla="val 2526"/>
            </a:avLst>
          </a:prstGeom>
          <a:solidFill>
            <a:srgbClr val="FFFFFF"/>
          </a:solidFill>
          <a:ln w="12700">
            <a:solidFill>
              <a:srgbClr val="DCE7E1"/>
            </a:solidFill>
            <a:prstDash val="solid"/>
          </a:ln>
          <a:effectLst>
            <a:outerShdw sx="100000" sy="100000" kx="0" ky="0" algn="bl" rotWithShape="0" blurRad="127000" dist="38100" dir="5400000">
              <a:srgbClr val="1F5F3C">
                <a:alpha val="18000"/>
              </a:srgbClr>
            </a:outerShdw>
          </a:effectLst>
        </p:spPr>
      </p:sp>
      <p:pic>
        <p:nvPicPr>
          <p:cNvPr id="6" name="Image 0" descr="/tmp/claude-0/scratchpad/shots/cropped/img_prof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4166" y="1975104"/>
            <a:ext cx="6481267" cy="405079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818120" y="1417320"/>
            <a:ext cx="3867912" cy="5074920"/>
          </a:xfrm>
          <a:prstGeom prst="roundRect">
            <a:avLst>
              <a:gd name="adj" fmla="val 2837"/>
            </a:avLst>
          </a:prstGeom>
          <a:solidFill>
            <a:srgbClr val="FFFFFF"/>
          </a:solidFill>
          <a:ln w="12700">
            <a:solidFill>
              <a:srgbClr val="DCE7E1"/>
            </a:solidFill>
            <a:prstDash val="solid"/>
          </a:ln>
          <a:effectLst>
            <a:outerShdw sx="100000" sy="100000" kx="0" ky="0" algn="bl" rotWithShape="0" blurRad="127000" dist="38100" dir="5400000">
              <a:srgbClr val="1F5F3C">
                <a:alpha val="18000"/>
              </a:srgbClr>
            </a:outerShdw>
          </a:effectLst>
        </p:spPr>
      </p:sp>
      <p:pic>
        <p:nvPicPr>
          <p:cNvPr id="8" name="Image 1" descr="/tmp/claude-0/scratchpad/shots/cropped/img_mobi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47158" y="1563624"/>
            <a:ext cx="2209836" cy="478231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02920" y="6263640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5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Профиль: имя, должность, email, стаж, предметы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50292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Okurmen KIDS LMS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8F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· ЧАСТЫЕ ОШИБКИ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9601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2622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Частые ошибки и что делать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225296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6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Короткие решения для ситуаций, которые встречаются чаще всего.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828800"/>
            <a:ext cx="11183112" cy="713232"/>
          </a:xfrm>
          <a:prstGeom prst="roundRect">
            <a:avLst>
              <a:gd name="adj" fmla="val 12821"/>
            </a:avLst>
          </a:prstGeom>
          <a:solidFill>
            <a:srgbClr val="E7F3EC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2011680"/>
            <a:ext cx="347472" cy="347472"/>
          </a:xfrm>
          <a:prstGeom prst="ellipse">
            <a:avLst/>
          </a:prstGeom>
          <a:solidFill>
            <a:srgbClr val="B45309"/>
          </a:solidFill>
          <a:ln/>
        </p:spPr>
      </p:sp>
      <p:pic>
        <p:nvPicPr>
          <p:cNvPr id="7" name="Image 0" descr="/tmp/claude-0/scratchpad/shots/cropped/ic_warn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337" y="2105497"/>
            <a:ext cx="159837" cy="159837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280160" y="1901952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20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получается войти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4480560" y="1901952"/>
            <a:ext cx="7040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B56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Проверьте раскладку клавиатуры и Caps Lock. Логин и пароль выдаёт администратор — уточните их, если забыли.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02920" y="2670048"/>
            <a:ext cx="11183112" cy="713232"/>
          </a:xfrm>
          <a:prstGeom prst="roundRect">
            <a:avLst>
              <a:gd name="adj" fmla="val 12821"/>
            </a:avLst>
          </a:prstGeom>
          <a:solidFill>
            <a:srgbClr val="E7F3EC"/>
          </a:solidFill>
          <a:ln/>
        </p:spPr>
      </p:sp>
      <p:sp>
        <p:nvSpPr>
          <p:cNvPr id="11" name="Shape 8"/>
          <p:cNvSpPr/>
          <p:nvPr/>
        </p:nvSpPr>
        <p:spPr>
          <a:xfrm>
            <a:off x="731520" y="2852928"/>
            <a:ext cx="347472" cy="347472"/>
          </a:xfrm>
          <a:prstGeom prst="ellipse">
            <a:avLst/>
          </a:prstGeom>
          <a:solidFill>
            <a:srgbClr val="B45309"/>
          </a:solidFill>
          <a:ln/>
        </p:spPr>
      </p:sp>
      <p:pic>
        <p:nvPicPr>
          <p:cNvPr id="12" name="Image 1" descr="/tmp/claude-0/scratchpad/shots/cropped/ic_warn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337" y="2946745"/>
            <a:ext cx="159837" cy="15983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280160" y="2743200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20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Сервер недоступен</a:t>
            </a:r>
            <a:endParaRPr lang="en-US" sz="1250" dirty="0"/>
          </a:p>
        </p:txBody>
      </p:sp>
      <p:sp>
        <p:nvSpPr>
          <p:cNvPr id="14" name="Text 10"/>
          <p:cNvSpPr txBox="1"/>
          <p:nvPr/>
        </p:nvSpPr>
        <p:spPr>
          <a:xfrm>
            <a:off x="4480560" y="2743200"/>
            <a:ext cx="7040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B56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Система покажет сообщение «Сервер недоступен» — проверьте интернет-соединение и повторите попытку.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502920" y="3511296"/>
            <a:ext cx="11183112" cy="713232"/>
          </a:xfrm>
          <a:prstGeom prst="roundRect">
            <a:avLst>
              <a:gd name="adj" fmla="val 12821"/>
            </a:avLst>
          </a:prstGeom>
          <a:solidFill>
            <a:srgbClr val="E7F3EC"/>
          </a:solidFill>
          <a:ln/>
        </p:spPr>
      </p:sp>
      <p:sp>
        <p:nvSpPr>
          <p:cNvPr id="16" name="Shape 12"/>
          <p:cNvSpPr/>
          <p:nvPr/>
        </p:nvSpPr>
        <p:spPr>
          <a:xfrm>
            <a:off x="731520" y="3694176"/>
            <a:ext cx="347472" cy="347472"/>
          </a:xfrm>
          <a:prstGeom prst="ellipse">
            <a:avLst/>
          </a:prstGeom>
          <a:solidFill>
            <a:srgbClr val="B45309"/>
          </a:solidFill>
          <a:ln/>
        </p:spPr>
      </p:sp>
      <p:pic>
        <p:nvPicPr>
          <p:cNvPr id="17" name="Image 2" descr="/tmp/claude-0/scratchpad/shots/cropped/ic_warnin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337" y="3787993"/>
            <a:ext cx="159837" cy="15983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280160" y="3584448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20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вижу свою группу</a:t>
            </a:r>
            <a:endParaRPr lang="en-US" sz="1250" dirty="0"/>
          </a:p>
        </p:txBody>
      </p:sp>
      <p:sp>
        <p:nvSpPr>
          <p:cNvPr id="19" name="Text 14"/>
          <p:cNvSpPr txBox="1"/>
          <p:nvPr/>
        </p:nvSpPr>
        <p:spPr>
          <a:xfrm>
            <a:off x="4480560" y="3584448"/>
            <a:ext cx="7040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B56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Убедитесь, что группа закреплена за вами в системе — при ошибке обратитесь к администратору.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502920" y="4352544"/>
            <a:ext cx="11183112" cy="713232"/>
          </a:xfrm>
          <a:prstGeom prst="roundRect">
            <a:avLst>
              <a:gd name="adj" fmla="val 12821"/>
            </a:avLst>
          </a:prstGeom>
          <a:solidFill>
            <a:srgbClr val="E7F3EC"/>
          </a:solidFill>
          <a:ln/>
        </p:spPr>
      </p:sp>
      <p:sp>
        <p:nvSpPr>
          <p:cNvPr id="21" name="Shape 16"/>
          <p:cNvSpPr/>
          <p:nvPr/>
        </p:nvSpPr>
        <p:spPr>
          <a:xfrm>
            <a:off x="731520" y="4535424"/>
            <a:ext cx="347472" cy="347472"/>
          </a:xfrm>
          <a:prstGeom prst="ellipse">
            <a:avLst/>
          </a:prstGeom>
          <a:solidFill>
            <a:srgbClr val="B45309"/>
          </a:solidFill>
          <a:ln/>
        </p:spPr>
      </p:sp>
      <p:pic>
        <p:nvPicPr>
          <p:cNvPr id="22" name="Image 3" descr="/tmp/claude-0/scratchpad/shots/cropped/ic_warnin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337" y="4629241"/>
            <a:ext cx="159837" cy="159837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280160" y="4425696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20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Нельзя изменить посещаемость или ДЗ</a:t>
            </a:r>
            <a:endParaRPr lang="en-US" sz="1250" dirty="0"/>
          </a:p>
        </p:txBody>
      </p:sp>
      <p:sp>
        <p:nvSpPr>
          <p:cNvPr id="24" name="Text 18"/>
          <p:cNvSpPr txBox="1"/>
          <p:nvPr/>
        </p:nvSpPr>
        <p:spPr>
          <a:xfrm>
            <a:off x="4480560" y="4425696"/>
            <a:ext cx="7040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B56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Занятие уже в статусе «Проведено» — после завершения занятия редактирование закрывается.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502920" y="5193792"/>
            <a:ext cx="11183112" cy="713232"/>
          </a:xfrm>
          <a:prstGeom prst="roundRect">
            <a:avLst>
              <a:gd name="adj" fmla="val 12821"/>
            </a:avLst>
          </a:prstGeom>
          <a:solidFill>
            <a:srgbClr val="E7F3EC"/>
          </a:solidFill>
          <a:ln/>
        </p:spPr>
      </p:sp>
      <p:sp>
        <p:nvSpPr>
          <p:cNvPr id="26" name="Shape 20"/>
          <p:cNvSpPr/>
          <p:nvPr/>
        </p:nvSpPr>
        <p:spPr>
          <a:xfrm>
            <a:off x="731520" y="5376672"/>
            <a:ext cx="347472" cy="347472"/>
          </a:xfrm>
          <a:prstGeom prst="ellipse">
            <a:avLst/>
          </a:prstGeom>
          <a:solidFill>
            <a:srgbClr val="B45309"/>
          </a:solidFill>
          <a:ln/>
        </p:spPr>
      </p:sp>
      <p:pic>
        <p:nvPicPr>
          <p:cNvPr id="27" name="Image 4" descr="/tmp/claude-0/scratchpad/shots/cropped/ic_warning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5337" y="5470489"/>
            <a:ext cx="159837" cy="159837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1280160" y="5266944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20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вижу нужный раздел в меню</a:t>
            </a:r>
            <a:endParaRPr lang="en-US" sz="1250" dirty="0"/>
          </a:p>
        </p:txBody>
      </p:sp>
      <p:sp>
        <p:nvSpPr>
          <p:cNvPr id="29" name="Text 22"/>
          <p:cNvSpPr txBox="1"/>
          <p:nvPr/>
        </p:nvSpPr>
        <p:spPr>
          <a:xfrm>
            <a:off x="4480560" y="5266944"/>
            <a:ext cx="7040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B56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Часть разделов (Студенты, Занятия, Посещаемость как отдельные пункты) доступна только администратору — тренер работает с этими данными через карточку своей группы.</a:t>
            </a:r>
            <a:endParaRPr lang="en-US" sz="1150" dirty="0"/>
          </a:p>
        </p:txBody>
      </p:sp>
      <p:sp>
        <p:nvSpPr>
          <p:cNvPr id="30" name="Text 23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31" name="Text 24"/>
          <p:cNvSpPr txBox="1"/>
          <p:nvPr/>
        </p:nvSpPr>
        <p:spPr>
          <a:xfrm>
            <a:off x="50292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Okurmen KIDS LMS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8F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· ЧЕК-ЛИСТ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9601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2622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Чек-лист тренера на каждый урок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225296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6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Короткий порядок действий до, во время и после занятия.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874520"/>
            <a:ext cx="3520440" cy="42062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CE7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874520"/>
            <a:ext cx="3520440" cy="566928"/>
          </a:xfrm>
          <a:prstGeom prst="roundRect">
            <a:avLst>
              <a:gd name="adj" fmla="val 19355"/>
            </a:avLst>
          </a:prstGeom>
          <a:solidFill>
            <a:srgbClr val="1F5F3C"/>
          </a:solidFill>
          <a:ln/>
        </p:spPr>
      </p:sp>
      <p:sp>
        <p:nvSpPr>
          <p:cNvPr id="7" name="Shape 5"/>
          <p:cNvSpPr/>
          <p:nvPr/>
        </p:nvSpPr>
        <p:spPr>
          <a:xfrm>
            <a:off x="502920" y="2157984"/>
            <a:ext cx="3520440" cy="283464"/>
          </a:xfrm>
          <a:prstGeom prst="rect">
            <a:avLst/>
          </a:prstGeom>
          <a:solidFill>
            <a:srgbClr val="1F5F3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874520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 занятия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31520" y="2697480"/>
            <a:ext cx="219456" cy="219456"/>
          </a:xfrm>
          <a:prstGeom prst="roundRect">
            <a:avLst>
              <a:gd name="adj" fmla="val 20833"/>
            </a:avLst>
          </a:prstGeom>
          <a:solidFill>
            <a:srgbClr val="E7F3EC"/>
          </a:solidFill>
          <a:ln w="15875">
            <a:solidFill>
              <a:srgbClr val="2F8F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69848" y="2624328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0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Проверить расписание на сегодня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31520" y="3703320"/>
            <a:ext cx="219456" cy="219456"/>
          </a:xfrm>
          <a:prstGeom prst="roundRect">
            <a:avLst>
              <a:gd name="adj" fmla="val 20833"/>
            </a:avLst>
          </a:prstGeom>
          <a:solidFill>
            <a:srgbClr val="E7F3EC"/>
          </a:solidFill>
          <a:ln w="15875">
            <a:solidFill>
              <a:srgbClr val="2F8F5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69848" y="3630168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0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Открыть карточку занятия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31520" y="4709160"/>
            <a:ext cx="219456" cy="219456"/>
          </a:xfrm>
          <a:prstGeom prst="roundRect">
            <a:avLst>
              <a:gd name="adj" fmla="val 20833"/>
            </a:avLst>
          </a:prstGeom>
          <a:solidFill>
            <a:srgbClr val="E7F3EC"/>
          </a:solidFill>
          <a:ln w="15875">
            <a:solidFill>
              <a:srgbClr val="2F8F5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69848" y="4636008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0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Свериться со списком студентов группы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334256" y="1874520"/>
            <a:ext cx="3520440" cy="42062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CE7E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334256" y="1874520"/>
            <a:ext cx="3520440" cy="566928"/>
          </a:xfrm>
          <a:prstGeom prst="roundRect">
            <a:avLst>
              <a:gd name="adj" fmla="val 19355"/>
            </a:avLst>
          </a:prstGeom>
          <a:solidFill>
            <a:srgbClr val="1F5F3C"/>
          </a:solidFill>
          <a:ln/>
        </p:spPr>
      </p:sp>
      <p:sp>
        <p:nvSpPr>
          <p:cNvPr id="17" name="Shape 15"/>
          <p:cNvSpPr/>
          <p:nvPr/>
        </p:nvSpPr>
        <p:spPr>
          <a:xfrm>
            <a:off x="4334256" y="2157984"/>
            <a:ext cx="3520440" cy="283464"/>
          </a:xfrm>
          <a:prstGeom prst="rect">
            <a:avLst/>
          </a:prstGeom>
          <a:solidFill>
            <a:srgbClr val="1F5F3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562856" y="1874520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 время занятия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62856" y="2697480"/>
            <a:ext cx="219456" cy="219456"/>
          </a:xfrm>
          <a:prstGeom prst="roundRect">
            <a:avLst>
              <a:gd name="adj" fmla="val 20833"/>
            </a:avLst>
          </a:prstGeom>
          <a:solidFill>
            <a:srgbClr val="E7F3EC"/>
          </a:solidFill>
          <a:ln w="15875">
            <a:solidFill>
              <a:srgbClr val="2F8F5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901184" y="2624328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0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Начать занятие в системе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62856" y="3703320"/>
            <a:ext cx="219456" cy="219456"/>
          </a:xfrm>
          <a:prstGeom prst="roundRect">
            <a:avLst>
              <a:gd name="adj" fmla="val 20833"/>
            </a:avLst>
          </a:prstGeom>
          <a:solidFill>
            <a:srgbClr val="E7F3EC"/>
          </a:solidFill>
          <a:ln w="15875">
            <a:solidFill>
              <a:srgbClr val="2F8F5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901184" y="3630168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0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Отметить посещаемость каждого студента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562856" y="4709160"/>
            <a:ext cx="219456" cy="219456"/>
          </a:xfrm>
          <a:prstGeom prst="roundRect">
            <a:avLst>
              <a:gd name="adj" fmla="val 20833"/>
            </a:avLst>
          </a:prstGeom>
          <a:solidFill>
            <a:srgbClr val="E7F3EC"/>
          </a:solidFill>
          <a:ln w="15875">
            <a:solidFill>
              <a:srgbClr val="2F8F5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901184" y="4636008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0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 необходимости выдать домашнее задание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165592" y="1874520"/>
            <a:ext cx="3520440" cy="42062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CE7E1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165592" y="1874520"/>
            <a:ext cx="3520440" cy="566928"/>
          </a:xfrm>
          <a:prstGeom prst="roundRect">
            <a:avLst>
              <a:gd name="adj" fmla="val 19355"/>
            </a:avLst>
          </a:prstGeom>
          <a:solidFill>
            <a:srgbClr val="1F5F3C"/>
          </a:solidFill>
          <a:ln/>
        </p:spPr>
      </p:sp>
      <p:sp>
        <p:nvSpPr>
          <p:cNvPr id="27" name="Shape 25"/>
          <p:cNvSpPr/>
          <p:nvPr/>
        </p:nvSpPr>
        <p:spPr>
          <a:xfrm>
            <a:off x="8165592" y="2157984"/>
            <a:ext cx="3520440" cy="283464"/>
          </a:xfrm>
          <a:prstGeom prst="rect">
            <a:avLst/>
          </a:prstGeom>
          <a:solidFill>
            <a:srgbClr val="1F5F3C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394192" y="1874520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После занятия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8394192" y="2697480"/>
            <a:ext cx="219456" cy="219456"/>
          </a:xfrm>
          <a:prstGeom prst="roundRect">
            <a:avLst>
              <a:gd name="adj" fmla="val 20833"/>
            </a:avLst>
          </a:prstGeom>
          <a:solidFill>
            <a:srgbClr val="E7F3EC"/>
          </a:solidFill>
          <a:ln w="15875">
            <a:solidFill>
              <a:srgbClr val="2F8F5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732520" y="2624328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0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Завершить занятие в системе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394192" y="3703320"/>
            <a:ext cx="219456" cy="219456"/>
          </a:xfrm>
          <a:prstGeom prst="roundRect">
            <a:avLst>
              <a:gd name="adj" fmla="val 20833"/>
            </a:avLst>
          </a:prstGeom>
          <a:solidFill>
            <a:srgbClr val="E7F3EC"/>
          </a:solidFill>
          <a:ln w="15875">
            <a:solidFill>
              <a:srgbClr val="2F8F5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732520" y="3630168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0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Проверить и оценить сданные ДЗ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8394192" y="4709160"/>
            <a:ext cx="219456" cy="219456"/>
          </a:xfrm>
          <a:prstGeom prst="roundRect">
            <a:avLst>
              <a:gd name="adj" fmla="val 20833"/>
            </a:avLst>
          </a:prstGeom>
          <a:solidFill>
            <a:srgbClr val="E7F3EC"/>
          </a:solidFill>
          <a:ln w="15875">
            <a:solidFill>
              <a:srgbClr val="2F8F5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732520" y="4636008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0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Проверить новости от администрации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50292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Okurmen KIDS LMS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74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52560" y="4023360"/>
            <a:ext cx="5029200" cy="5029200"/>
          </a:xfrm>
          <a:prstGeom prst="ellipse">
            <a:avLst/>
          </a:prstGeom>
          <a:solidFill>
            <a:srgbClr val="1F5F3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FE7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· ПЕРЕД НАЧАЛОМ РАБОТЫ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858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Что нужно сделать тренеру перед началом работы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02920" y="1618488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1B4F32"/>
          </a:solidFill>
          <a:ln w="19050">
            <a:solidFill>
              <a:srgbClr val="2F8F5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86968" y="1600200"/>
            <a:ext cx="6949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Открыть LMS по ссылке okurmen-kids-drab.vercel.app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2039112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1B4F32"/>
          </a:solidFill>
          <a:ln w="19050">
            <a:solidFill>
              <a:srgbClr val="2F8F5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86968" y="2020824"/>
            <a:ext cx="6949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Войти по логину и паролю, выданным администратором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2459736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1B4F32"/>
          </a:solidFill>
          <a:ln w="19050">
            <a:solidFill>
              <a:srgbClr val="2F8F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86968" y="2441448"/>
            <a:ext cx="6949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Проверить доступ и корректность своих данных в «Профиле»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02920" y="2880360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1B4F32"/>
          </a:solidFill>
          <a:ln w="19050">
            <a:solidFill>
              <a:srgbClr val="2F8F5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86968" y="2862072"/>
            <a:ext cx="6949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Ознакомиться со своими группами в разделе «Мои группы»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3300984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1B4F32"/>
          </a:solidFill>
          <a:ln w="19050">
            <a:solidFill>
              <a:srgbClr val="2F8F5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86968" y="3282696"/>
            <a:ext cx="6949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Проверить расписание занятий на неделю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02920" y="3721608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1B4F32"/>
          </a:solidFill>
          <a:ln w="19050">
            <a:solidFill>
              <a:srgbClr val="2F8F5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86968" y="3703320"/>
            <a:ext cx="6949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Изучить вкладки группы: Студенты, Посещаемость, Домашние задания, KPI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4142232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1B4F32"/>
          </a:solidFill>
          <a:ln w="19050">
            <a:solidFill>
              <a:srgbClr val="2F8F5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86968" y="4123944"/>
            <a:ext cx="6949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Обратиться к администратору при любых проблемах с доступом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635240" y="1600200"/>
            <a:ext cx="4069080" cy="4617720"/>
          </a:xfrm>
          <a:prstGeom prst="roundRect">
            <a:avLst>
              <a:gd name="adj" fmla="val 2697"/>
            </a:avLst>
          </a:prstGeom>
          <a:solidFill>
            <a:srgbClr val="163F29"/>
          </a:solidFill>
          <a:ln w="12700">
            <a:solidFill>
              <a:srgbClr val="2E7A5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909560" y="1828800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Нужно уточнить у команды разработки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909560" y="2468880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CFE7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Учебные материалы к занятиям (файлы, презентации, ссылки) — в интерфейсе не найдены.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7909560" y="3429000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CFE7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Push- или email-уведомления — подтверждён только раздел «Новости» с колокольчиком.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7909560" y="4389120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CFE7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Отдельная карточка студента с полной историей — доступна по клику, но не проверена подробно.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0292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FE7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Okurmen KIDS LMS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1368735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FE7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Okurmen KIDS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Okurmen KIDS LMS — Инструкция для тренеров</dc:title>
  <dc:subject>PptxGenJS Presentation</dc:subject>
  <dc:creator>Okurmen KIDS</dc:creator>
  <cp:lastModifiedBy>Okurmen KIDS</cp:lastModifiedBy>
  <cp:revision>1</cp:revision>
  <dcterms:created xsi:type="dcterms:W3CDTF">2026-09-22T07:55:37Z</dcterms:created>
  <dcterms:modified xsi:type="dcterms:W3CDTF">2026-09-22T07:55:37Z</dcterms:modified>
</cp:coreProperties>
</file>